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48" autoAdjust="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#1" qsCatId="simple" csTypeId="urn:microsoft.com/office/officeart/2005/8/colors/accent2_2#1" csCatId="accent2" phldr="1"/>
      <dgm:spPr/>
      <dgm:t>
        <a:bodyPr rtlCol="0"/>
        <a:lstStyle/>
        <a:p>
          <a:pPr rtl="0"/>
          <a:endParaRPr lang="en-US"/>
        </a:p>
      </dgm:t>
    </dgm:pt>
    <dgm:pt modelId="{FE4C0DC5-4FF2-4847-B209-55DA2098639B}">
      <dgm:prSet/>
      <dgm:spPr/>
      <dgm:t>
        <a:bodyPr/>
        <a:lstStyle/>
        <a:p>
          <a:pPr>
            <a:buNone/>
          </a:pPr>
          <a:r>
            <a:rPr lang="es-ES" b="1" i="0"/>
            <a:t>Telco Customer Churn (IBM):</a:t>
          </a:r>
          <a:endParaRPr lang="es-ES" b="0" i="0"/>
        </a:p>
      </dgm:t>
    </dgm:pt>
    <dgm:pt modelId="{EB28BAAD-662B-4080-8356-45DF64F349C4}" type="parTrans" cxnId="{CA9F7F1E-B057-4DAC-93F0-4F2E180EDB7A}">
      <dgm:prSet/>
      <dgm:spPr/>
      <dgm:t>
        <a:bodyPr/>
        <a:lstStyle/>
        <a:p>
          <a:endParaRPr lang="es-ES"/>
        </a:p>
      </dgm:t>
    </dgm:pt>
    <dgm:pt modelId="{F33053CD-EB50-4E58-9B00-B57388684898}" type="sibTrans" cxnId="{CA9F7F1E-B057-4DAC-93F0-4F2E180EDB7A}">
      <dgm:prSet/>
      <dgm:spPr/>
      <dgm:t>
        <a:bodyPr/>
        <a:lstStyle/>
        <a:p>
          <a:endParaRPr lang="es-ES"/>
        </a:p>
      </dgm:t>
    </dgm:pt>
    <dgm:pt modelId="{4DBD645B-98C0-477F-B781-C9DF91BEBDB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i="0"/>
            <a:t>7.043 clientes</a:t>
          </a:r>
          <a:endParaRPr lang="es-ES" b="0" i="0"/>
        </a:p>
      </dgm:t>
    </dgm:pt>
    <dgm:pt modelId="{C3156770-0C97-4C7D-85FA-1A4EB271915C}" type="parTrans" cxnId="{2BED3313-9FDA-49D2-9407-0B2B82E49E17}">
      <dgm:prSet/>
      <dgm:spPr/>
      <dgm:t>
        <a:bodyPr/>
        <a:lstStyle/>
        <a:p>
          <a:endParaRPr lang="es-ES"/>
        </a:p>
      </dgm:t>
    </dgm:pt>
    <dgm:pt modelId="{7FCEE420-16B6-42F2-BC5E-19A5F08F6711}" type="sibTrans" cxnId="{2BED3313-9FDA-49D2-9407-0B2B82E49E17}">
      <dgm:prSet/>
      <dgm:spPr/>
      <dgm:t>
        <a:bodyPr/>
        <a:lstStyle/>
        <a:p>
          <a:endParaRPr lang="es-ES"/>
        </a:p>
      </dgm:t>
    </dgm:pt>
    <dgm:pt modelId="{0C0DF0B2-3077-4ACA-8D38-DE233A60FC3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i="0"/>
            <a:t>21 variables</a:t>
          </a:r>
          <a:r>
            <a:rPr lang="es-ES" b="0" i="0"/>
            <a:t> (demografía, servicios, facturación)</a:t>
          </a:r>
        </a:p>
      </dgm:t>
    </dgm:pt>
    <dgm:pt modelId="{4DFEB24B-222F-4D0F-8F1B-317D1913F2D7}" type="parTrans" cxnId="{79344389-1A76-497A-92A2-C61807AE27C5}">
      <dgm:prSet/>
      <dgm:spPr/>
      <dgm:t>
        <a:bodyPr/>
        <a:lstStyle/>
        <a:p>
          <a:endParaRPr lang="es-ES"/>
        </a:p>
      </dgm:t>
    </dgm:pt>
    <dgm:pt modelId="{744BC9E1-3207-4B91-9B1E-1487DD8597B3}" type="sibTrans" cxnId="{79344389-1A76-497A-92A2-C61807AE27C5}">
      <dgm:prSet/>
      <dgm:spPr/>
      <dgm:t>
        <a:bodyPr/>
        <a:lstStyle/>
        <a:p>
          <a:endParaRPr lang="es-ES"/>
        </a:p>
      </dgm:t>
    </dgm:pt>
    <dgm:pt modelId="{84DF0F31-8C17-408E-BA39-E85884A09B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i="0"/>
            <a:t>Variable objetivo:</a:t>
          </a:r>
          <a:r>
            <a:rPr lang="es-ES" b="0" i="0"/>
            <a:t> Churn (Yes/No)</a:t>
          </a:r>
        </a:p>
      </dgm:t>
    </dgm:pt>
    <dgm:pt modelId="{027C4DF8-B865-40F0-97B2-E3B8BAF38FD0}" type="parTrans" cxnId="{EB1FF03E-C247-4701-87CC-984013ECA4E3}">
      <dgm:prSet/>
      <dgm:spPr/>
      <dgm:t>
        <a:bodyPr/>
        <a:lstStyle/>
        <a:p>
          <a:endParaRPr lang="es-ES"/>
        </a:p>
      </dgm:t>
    </dgm:pt>
    <dgm:pt modelId="{DE38A3D5-9171-4723-8CAC-5CCFC0AD847A}" type="sibTrans" cxnId="{EB1FF03E-C247-4701-87CC-984013ECA4E3}">
      <dgm:prSet/>
      <dgm:spPr/>
      <dgm:t>
        <a:bodyPr/>
        <a:lstStyle/>
        <a:p>
          <a:endParaRPr lang="es-ES"/>
        </a:p>
      </dgm:t>
    </dgm:pt>
    <dgm:pt modelId="{C402287D-01CE-46F9-8EB9-BEDAD9CC3D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i="0"/>
            <a:t>26,54% de churn</a:t>
          </a:r>
          <a:endParaRPr lang="es-ES" b="0" i="0"/>
        </a:p>
      </dgm:t>
    </dgm:pt>
    <dgm:pt modelId="{6C3AA42B-2A55-4AF5-9402-9EAC0CF3108C}" type="parTrans" cxnId="{6020D2FB-7B8E-4050-ACFE-582BCA88F960}">
      <dgm:prSet/>
      <dgm:spPr/>
      <dgm:t>
        <a:bodyPr/>
        <a:lstStyle/>
        <a:p>
          <a:endParaRPr lang="es-ES"/>
        </a:p>
      </dgm:t>
    </dgm:pt>
    <dgm:pt modelId="{4E50834A-EAF9-4B5F-B10D-A7A2943D0F0F}" type="sibTrans" cxnId="{6020D2FB-7B8E-4050-ACFE-582BCA88F960}">
      <dgm:prSet/>
      <dgm:spPr/>
      <dgm:t>
        <a:bodyPr/>
        <a:lstStyle/>
        <a:p>
          <a:endParaRPr lang="es-E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2C0D64D9-B5FC-4BCD-8EA6-EBCA934138AD}" type="pres">
      <dgm:prSet presAssocID="{FE4C0DC5-4FF2-4847-B209-55DA2098639B}" presName="text_1" presStyleLbl="node1" presStyleIdx="0" presStyleCnt="5">
        <dgm:presLayoutVars>
          <dgm:bulletEnabled val="1"/>
        </dgm:presLayoutVars>
      </dgm:prSet>
      <dgm:spPr/>
    </dgm:pt>
    <dgm:pt modelId="{857098DD-F2E0-4A67-B527-370F20D08305}" type="pres">
      <dgm:prSet presAssocID="{FE4C0DC5-4FF2-4847-B209-55DA2098639B}" presName="accent_1" presStyleCnt="0"/>
      <dgm:spPr/>
    </dgm:pt>
    <dgm:pt modelId="{8056B5E5-AADE-494E-ADB1-6530081CAD1C}" type="pres">
      <dgm:prSet presAssocID="{FE4C0DC5-4FF2-4847-B209-55DA2098639B}" presName="accentRepeatNode" presStyleLbl="solidFgAcc1" presStyleIdx="0" presStyleCnt="5"/>
      <dgm:spPr/>
    </dgm:pt>
    <dgm:pt modelId="{BCA089D9-8652-46F0-B673-FD2676B4CB98}" type="pres">
      <dgm:prSet presAssocID="{4DBD645B-98C0-477F-B781-C9DF91BEBDBD}" presName="text_2" presStyleLbl="node1" presStyleIdx="1" presStyleCnt="5">
        <dgm:presLayoutVars>
          <dgm:bulletEnabled val="1"/>
        </dgm:presLayoutVars>
      </dgm:prSet>
      <dgm:spPr/>
    </dgm:pt>
    <dgm:pt modelId="{DEF38713-2301-4558-806E-2D5F417C0426}" type="pres">
      <dgm:prSet presAssocID="{4DBD645B-98C0-477F-B781-C9DF91BEBDBD}" presName="accent_2" presStyleCnt="0"/>
      <dgm:spPr/>
    </dgm:pt>
    <dgm:pt modelId="{B09182AE-D8B4-40F4-BD8D-F53D14D6E8DC}" type="pres">
      <dgm:prSet presAssocID="{4DBD645B-98C0-477F-B781-C9DF91BEBDBD}" presName="accentRepeatNode" presStyleLbl="solidFgAcc1" presStyleIdx="1" presStyleCnt="5"/>
      <dgm:spPr/>
    </dgm:pt>
    <dgm:pt modelId="{BEF4BC98-B66B-4C9C-8114-52C23ED14B84}" type="pres">
      <dgm:prSet presAssocID="{0C0DF0B2-3077-4ACA-8D38-DE233A60FC3B}" presName="text_3" presStyleLbl="node1" presStyleIdx="2" presStyleCnt="5">
        <dgm:presLayoutVars>
          <dgm:bulletEnabled val="1"/>
        </dgm:presLayoutVars>
      </dgm:prSet>
      <dgm:spPr/>
    </dgm:pt>
    <dgm:pt modelId="{48652D25-C3B4-4909-A88D-C349E4664009}" type="pres">
      <dgm:prSet presAssocID="{0C0DF0B2-3077-4ACA-8D38-DE233A60FC3B}" presName="accent_3" presStyleCnt="0"/>
      <dgm:spPr/>
    </dgm:pt>
    <dgm:pt modelId="{55A031E8-95BC-44BD-8240-2A8333DC23CA}" type="pres">
      <dgm:prSet presAssocID="{0C0DF0B2-3077-4ACA-8D38-DE233A60FC3B}" presName="accentRepeatNode" presStyleLbl="solidFgAcc1" presStyleIdx="2" presStyleCnt="5"/>
      <dgm:spPr/>
    </dgm:pt>
    <dgm:pt modelId="{4C7BEE72-9879-4CF9-8EBC-0B99F64B8E9F}" type="pres">
      <dgm:prSet presAssocID="{84DF0F31-8C17-408E-BA39-E85884A09B33}" presName="text_4" presStyleLbl="node1" presStyleIdx="3" presStyleCnt="5">
        <dgm:presLayoutVars>
          <dgm:bulletEnabled val="1"/>
        </dgm:presLayoutVars>
      </dgm:prSet>
      <dgm:spPr/>
    </dgm:pt>
    <dgm:pt modelId="{86F43122-AA34-45E8-88D3-7BE514F06068}" type="pres">
      <dgm:prSet presAssocID="{84DF0F31-8C17-408E-BA39-E85884A09B33}" presName="accent_4" presStyleCnt="0"/>
      <dgm:spPr/>
    </dgm:pt>
    <dgm:pt modelId="{0291B72C-4B93-46B2-A8F2-964CA4FFC295}" type="pres">
      <dgm:prSet presAssocID="{84DF0F31-8C17-408E-BA39-E85884A09B33}" presName="accentRepeatNode" presStyleLbl="solidFgAcc1" presStyleIdx="3" presStyleCnt="5"/>
      <dgm:spPr/>
    </dgm:pt>
    <dgm:pt modelId="{1E296138-B314-496C-AFBA-33DC3AD47FC4}" type="pres">
      <dgm:prSet presAssocID="{C402287D-01CE-46F9-8EB9-BEDAD9CC3DDD}" presName="text_5" presStyleLbl="node1" presStyleIdx="4" presStyleCnt="5">
        <dgm:presLayoutVars>
          <dgm:bulletEnabled val="1"/>
        </dgm:presLayoutVars>
      </dgm:prSet>
      <dgm:spPr/>
    </dgm:pt>
    <dgm:pt modelId="{B6E954B0-B127-4B2F-8022-C565B87A7A86}" type="pres">
      <dgm:prSet presAssocID="{C402287D-01CE-46F9-8EB9-BEDAD9CC3DDD}" presName="accent_5" presStyleCnt="0"/>
      <dgm:spPr/>
    </dgm:pt>
    <dgm:pt modelId="{F51B1F45-F68E-466B-BB22-1128E20B8812}" type="pres">
      <dgm:prSet presAssocID="{C402287D-01CE-46F9-8EB9-BEDAD9CC3DDD}" presName="accentRepeatNode" presStyleLbl="solidFgAcc1" presStyleIdx="4" presStyleCnt="5"/>
      <dgm:spPr/>
    </dgm:pt>
  </dgm:ptLst>
  <dgm:cxnLst>
    <dgm:cxn modelId="{50420E04-3742-4EEA-98CE-460E6035ED69}" type="presOf" srcId="{4DBD645B-98C0-477F-B781-C9DF91BEBDBD}" destId="{BCA089D9-8652-46F0-B673-FD2676B4CB98}" srcOrd="0" destOrd="0" presId="urn:microsoft.com/office/officeart/2008/layout/VerticalCurvedList"/>
    <dgm:cxn modelId="{2BED3313-9FDA-49D2-9407-0B2B82E49E17}" srcId="{7E5AA53B-3EEE-4DE4-BB81-9044890C2946}" destId="{4DBD645B-98C0-477F-B781-C9DF91BEBDBD}" srcOrd="1" destOrd="0" parTransId="{C3156770-0C97-4C7D-85FA-1A4EB271915C}" sibTransId="{7FCEE420-16B6-42F2-BC5E-19A5F08F6711}"/>
    <dgm:cxn modelId="{0FD38118-27DF-42D6-83F1-DC50E5EFBBD2}" type="presOf" srcId="{84DF0F31-8C17-408E-BA39-E85884A09B33}" destId="{4C7BEE72-9879-4CF9-8EBC-0B99F64B8E9F}" srcOrd="0" destOrd="0" presId="urn:microsoft.com/office/officeart/2008/layout/VerticalCurvedList"/>
    <dgm:cxn modelId="{CA9F7F1E-B057-4DAC-93F0-4F2E180EDB7A}" srcId="{7E5AA53B-3EEE-4DE4-BB81-9044890C2946}" destId="{FE4C0DC5-4FF2-4847-B209-55DA2098639B}" srcOrd="0" destOrd="0" parTransId="{EB28BAAD-662B-4080-8356-45DF64F349C4}" sibTransId="{F33053CD-EB50-4E58-9B00-B57388684898}"/>
    <dgm:cxn modelId="{EB1FF03E-C247-4701-87CC-984013ECA4E3}" srcId="{7E5AA53B-3EEE-4DE4-BB81-9044890C2946}" destId="{84DF0F31-8C17-408E-BA39-E85884A09B33}" srcOrd="3" destOrd="0" parTransId="{027C4DF8-B865-40F0-97B2-E3B8BAF38FD0}" sibTransId="{DE38A3D5-9171-4723-8CAC-5CCFC0AD847A}"/>
    <dgm:cxn modelId="{DD75325C-366F-42CA-8903-74D5EB484B93}" type="presOf" srcId="{0C0DF0B2-3077-4ACA-8D38-DE233A60FC3B}" destId="{BEF4BC98-B66B-4C9C-8114-52C23ED14B84}" srcOrd="0" destOrd="0" presId="urn:microsoft.com/office/officeart/2008/layout/VerticalCurvedList"/>
    <dgm:cxn modelId="{54CA3355-EE8B-43B3-BA90-E0EE7D3CF51E}" type="presOf" srcId="{FE4C0DC5-4FF2-4847-B209-55DA2098639B}" destId="{2C0D64D9-B5FC-4BCD-8EA6-EBCA934138AD}" srcOrd="0" destOrd="0" presId="urn:microsoft.com/office/officeart/2008/layout/VerticalCurvedList"/>
    <dgm:cxn modelId="{79344389-1A76-497A-92A2-C61807AE27C5}" srcId="{7E5AA53B-3EEE-4DE4-BB81-9044890C2946}" destId="{0C0DF0B2-3077-4ACA-8D38-DE233A60FC3B}" srcOrd="2" destOrd="0" parTransId="{4DFEB24B-222F-4D0F-8F1B-317D1913F2D7}" sibTransId="{744BC9E1-3207-4B91-9B1E-1487DD8597B3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3A279097-D40E-49BA-AFE1-076AFE60A0D9}" type="presOf" srcId="{F33053CD-EB50-4E58-9B00-B57388684898}" destId="{D79B43FC-100B-4A0D-A4D5-0D2D04B99064}" srcOrd="0" destOrd="0" presId="urn:microsoft.com/office/officeart/2008/layout/VerticalCurvedList"/>
    <dgm:cxn modelId="{85CD5C9B-7EF5-49BC-B290-1865E02C8EC5}" type="presOf" srcId="{C402287D-01CE-46F9-8EB9-BEDAD9CC3DDD}" destId="{1E296138-B314-496C-AFBA-33DC3AD47FC4}" srcOrd="0" destOrd="0" presId="urn:microsoft.com/office/officeart/2008/layout/VerticalCurvedList"/>
    <dgm:cxn modelId="{6020D2FB-7B8E-4050-ACFE-582BCA88F960}" srcId="{7E5AA53B-3EEE-4DE4-BB81-9044890C2946}" destId="{C402287D-01CE-46F9-8EB9-BEDAD9CC3DDD}" srcOrd="4" destOrd="0" parTransId="{6C3AA42B-2A55-4AF5-9402-9EAC0CF3108C}" sibTransId="{4E50834A-EAF9-4B5F-B10D-A7A2943D0F0F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1DE77720-8B16-43A6-8A68-CE34C450BAB8}" type="presParOf" srcId="{90561C55-3C6E-4D53-85E1-2C50BCDDA392}" destId="{2C0D64D9-B5FC-4BCD-8EA6-EBCA934138AD}" srcOrd="1" destOrd="0" presId="urn:microsoft.com/office/officeart/2008/layout/VerticalCurvedList"/>
    <dgm:cxn modelId="{EC6A7055-7A29-4F6D-8B02-B20DB2C4E0A9}" type="presParOf" srcId="{90561C55-3C6E-4D53-85E1-2C50BCDDA392}" destId="{857098DD-F2E0-4A67-B527-370F20D08305}" srcOrd="2" destOrd="0" presId="urn:microsoft.com/office/officeart/2008/layout/VerticalCurvedList"/>
    <dgm:cxn modelId="{8B0E77F3-B5A2-4971-8F81-9E7D29E55D2F}" type="presParOf" srcId="{857098DD-F2E0-4A67-B527-370F20D08305}" destId="{8056B5E5-AADE-494E-ADB1-6530081CAD1C}" srcOrd="0" destOrd="0" presId="urn:microsoft.com/office/officeart/2008/layout/VerticalCurvedList"/>
    <dgm:cxn modelId="{D1CB1F29-5837-4ABF-83CE-2ABE8E212A52}" type="presParOf" srcId="{90561C55-3C6E-4D53-85E1-2C50BCDDA392}" destId="{BCA089D9-8652-46F0-B673-FD2676B4CB98}" srcOrd="3" destOrd="0" presId="urn:microsoft.com/office/officeart/2008/layout/VerticalCurvedList"/>
    <dgm:cxn modelId="{C3F55B6A-F200-4978-B794-D2D8F76A7C09}" type="presParOf" srcId="{90561C55-3C6E-4D53-85E1-2C50BCDDA392}" destId="{DEF38713-2301-4558-806E-2D5F417C0426}" srcOrd="4" destOrd="0" presId="urn:microsoft.com/office/officeart/2008/layout/VerticalCurvedList"/>
    <dgm:cxn modelId="{096C1049-ACDA-4DE1-BAF7-DAB51972D8FF}" type="presParOf" srcId="{DEF38713-2301-4558-806E-2D5F417C0426}" destId="{B09182AE-D8B4-40F4-BD8D-F53D14D6E8DC}" srcOrd="0" destOrd="0" presId="urn:microsoft.com/office/officeart/2008/layout/VerticalCurvedList"/>
    <dgm:cxn modelId="{61A71DD0-876D-4420-AEFD-DFE9EA4D42BA}" type="presParOf" srcId="{90561C55-3C6E-4D53-85E1-2C50BCDDA392}" destId="{BEF4BC98-B66B-4C9C-8114-52C23ED14B84}" srcOrd="5" destOrd="0" presId="urn:microsoft.com/office/officeart/2008/layout/VerticalCurvedList"/>
    <dgm:cxn modelId="{4F443389-0BD5-461D-9491-8DE28587C034}" type="presParOf" srcId="{90561C55-3C6E-4D53-85E1-2C50BCDDA392}" destId="{48652D25-C3B4-4909-A88D-C349E4664009}" srcOrd="6" destOrd="0" presId="urn:microsoft.com/office/officeart/2008/layout/VerticalCurvedList"/>
    <dgm:cxn modelId="{BCF3933E-D026-4DC4-BE7F-FDBC4A867656}" type="presParOf" srcId="{48652D25-C3B4-4909-A88D-C349E4664009}" destId="{55A031E8-95BC-44BD-8240-2A8333DC23CA}" srcOrd="0" destOrd="0" presId="urn:microsoft.com/office/officeart/2008/layout/VerticalCurvedList"/>
    <dgm:cxn modelId="{76327DD5-C81C-4A88-B0DA-6320642A7DFA}" type="presParOf" srcId="{90561C55-3C6E-4D53-85E1-2C50BCDDA392}" destId="{4C7BEE72-9879-4CF9-8EBC-0B99F64B8E9F}" srcOrd="7" destOrd="0" presId="urn:microsoft.com/office/officeart/2008/layout/VerticalCurvedList"/>
    <dgm:cxn modelId="{563B6A9F-EE4D-40D0-B32E-BC00DDE7888E}" type="presParOf" srcId="{90561C55-3C6E-4D53-85E1-2C50BCDDA392}" destId="{86F43122-AA34-45E8-88D3-7BE514F06068}" srcOrd="8" destOrd="0" presId="urn:microsoft.com/office/officeart/2008/layout/VerticalCurvedList"/>
    <dgm:cxn modelId="{7FD00837-FC43-4F21-83ED-CCF3C521EB04}" type="presParOf" srcId="{86F43122-AA34-45E8-88D3-7BE514F06068}" destId="{0291B72C-4B93-46B2-A8F2-964CA4FFC295}" srcOrd="0" destOrd="0" presId="urn:microsoft.com/office/officeart/2008/layout/VerticalCurvedList"/>
    <dgm:cxn modelId="{AF86EE56-F48B-47EA-848E-92B3EDC0E89E}" type="presParOf" srcId="{90561C55-3C6E-4D53-85E1-2C50BCDDA392}" destId="{1E296138-B314-496C-AFBA-33DC3AD47FC4}" srcOrd="9" destOrd="0" presId="urn:microsoft.com/office/officeart/2008/layout/VerticalCurvedList"/>
    <dgm:cxn modelId="{FCD73560-F6FF-4FC2-BB4F-4FADB91A9E7E}" type="presParOf" srcId="{90561C55-3C6E-4D53-85E1-2C50BCDDA392}" destId="{B6E954B0-B127-4B2F-8022-C565B87A7A86}" srcOrd="10" destOrd="0" presId="urn:microsoft.com/office/officeart/2008/layout/VerticalCurvedList"/>
    <dgm:cxn modelId="{7C0BA694-F9B4-465C-A211-A63E643E5BB1}" type="presParOf" srcId="{B6E954B0-B127-4B2F-8022-C565B87A7A86}" destId="{F51B1F45-F68E-466B-BB22-1128E20B881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D64D9-B5FC-4BCD-8EA6-EBCA934138AD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1" i="0" kern="1200"/>
            <a:t>Telco Customer Churn (IBM):</a:t>
          </a:r>
          <a:endParaRPr lang="es-ES" sz="2200" b="0" i="0" kern="1200"/>
        </a:p>
      </dsp:txBody>
      <dsp:txXfrm>
        <a:off x="338329" y="222674"/>
        <a:ext cx="6468629" cy="445634"/>
      </dsp:txXfrm>
    </dsp:sp>
    <dsp:sp modelId="{8056B5E5-AADE-494E-ADB1-6530081CAD1C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089D9-8652-46F0-B673-FD2676B4CB98}">
      <dsp:nvSpPr>
        <dsp:cNvPr id="0" name=""/>
        <dsp:cNvSpPr/>
      </dsp:nvSpPr>
      <dsp:spPr>
        <a:xfrm>
          <a:off x="657658" y="890913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200" b="1" i="0" kern="1200"/>
            <a:t>7.043 clientes</a:t>
          </a:r>
          <a:endParaRPr lang="es-ES" sz="2200" b="0" i="0" kern="1200"/>
        </a:p>
      </dsp:txBody>
      <dsp:txXfrm>
        <a:off x="657658" y="890913"/>
        <a:ext cx="6149301" cy="445634"/>
      </dsp:txXfrm>
    </dsp:sp>
    <dsp:sp modelId="{B09182AE-D8B4-40F4-BD8D-F53D14D6E8DC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4BC98-B66B-4C9C-8114-52C23ED14B84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200" b="1" i="0" kern="1200"/>
            <a:t>21 variables</a:t>
          </a:r>
          <a:r>
            <a:rPr lang="es-ES" sz="2200" b="0" i="0" kern="1200"/>
            <a:t> (demografía, servicios, facturación)</a:t>
          </a:r>
        </a:p>
      </dsp:txBody>
      <dsp:txXfrm>
        <a:off x="755666" y="1559151"/>
        <a:ext cx="6051292" cy="445634"/>
      </dsp:txXfrm>
    </dsp:sp>
    <dsp:sp modelId="{55A031E8-95BC-44BD-8240-2A8333DC23CA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BEE72-9879-4CF9-8EBC-0B99F64B8E9F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200" b="1" i="0" kern="1200"/>
            <a:t>Variable objetivo:</a:t>
          </a:r>
          <a:r>
            <a:rPr lang="es-ES" sz="2200" b="0" i="0" kern="1200"/>
            <a:t> Churn (Yes/No)</a:t>
          </a:r>
        </a:p>
      </dsp:txBody>
      <dsp:txXfrm>
        <a:off x="657658" y="2227389"/>
        <a:ext cx="6149301" cy="445634"/>
      </dsp:txXfrm>
    </dsp:sp>
    <dsp:sp modelId="{0291B72C-4B93-46B2-A8F2-964CA4FFC295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96138-B314-496C-AFBA-33DC3AD47FC4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200" b="1" i="0" kern="1200"/>
            <a:t>26,54% de churn</a:t>
          </a:r>
          <a:endParaRPr lang="es-ES" sz="2200" b="0" i="0" kern="1200"/>
        </a:p>
      </dsp:txBody>
      <dsp:txXfrm>
        <a:off x="338329" y="2895628"/>
        <a:ext cx="6468629" cy="445634"/>
      </dsp:txXfrm>
    </dsp:sp>
    <dsp:sp modelId="{F51B1F45-F68E-466B-BB22-1128E20B8812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14/09/2026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2.xml"/><Relationship Id="rId7" Type="http://schemas.openxmlformats.org/officeDocument/2006/relationships/diagramLayout" Target="../diagrams/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diagramData" Target="../diagrams/data1.xml"/><Relationship Id="rId11" Type="http://schemas.openxmlformats.org/officeDocument/2006/relationships/image" Target="../media/image2.png"/><Relationship Id="rId5" Type="http://schemas.openxmlformats.org/officeDocument/2006/relationships/image" Target="../media/image4.jpeg"/><Relationship Id="rId10" Type="http://schemas.microsoft.com/office/2007/relationships/diagramDrawing" Target="../diagrams/drawing1.xml"/><Relationship Id="rId4" Type="http://schemas.openxmlformats.org/officeDocument/2006/relationships/notesSlide" Target="../notesSlides/notesSlide4.xml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2.png"/><Relationship Id="rId4" Type="http://schemas.openxmlformats.org/officeDocument/2006/relationships/hyperlink" Target="https://www.linkedin.com/in/judit-giravent-27b16715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Predicción de Churn con IA</a:t>
            </a:r>
            <a:endParaRPr lang="es-ES" sz="60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es-ES" dirty="0"/>
              <a:t>Proyecto de Business </a:t>
            </a:r>
            <a:r>
              <a:rPr lang="es-ES" dirty="0" err="1"/>
              <a:t>Analytics</a:t>
            </a:r>
            <a:r>
              <a:rPr lang="es-ES" dirty="0"/>
              <a:t> — Reto 9                                                       </a:t>
            </a:r>
            <a:r>
              <a:rPr lang="es-ES" b="1" dirty="0"/>
              <a:t>Autor:</a:t>
            </a:r>
            <a:r>
              <a:rPr lang="es-ES" dirty="0"/>
              <a:t> Judit Giravent · 09/2026</a:t>
            </a:r>
            <a:endParaRPr lang="es-ES" dirty="0">
              <a:solidFill>
                <a:srgbClr val="7CEBFF"/>
              </a:solidFill>
            </a:endParaRPr>
          </a:p>
        </p:txBody>
      </p:sp>
      <p:pic>
        <p:nvPicPr>
          <p:cNvPr id="4" name="ElevenLabs_2026-09-14T13_51_34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68FC9E3F-F166-4E6C-5CA2-B094576D74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73131" y="604713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37033D-B0BD-DDF9-5D4E-7E52C7D3E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7" y="1168740"/>
            <a:ext cx="11029615" cy="3678303"/>
          </a:xfrm>
        </p:spPr>
        <p:txBody>
          <a:bodyPr/>
          <a:lstStyle/>
          <a:p>
            <a:r>
              <a:rPr lang="es-ES" b="1" dirty="0" err="1"/>
              <a:t>Bullets</a:t>
            </a:r>
            <a:r>
              <a:rPr lang="es-ES" b="1" dirty="0"/>
              <a:t>:</a:t>
            </a:r>
            <a:endParaRPr lang="es-ES" dirty="0"/>
          </a:p>
          <a:p>
            <a:pPr lvl="0"/>
            <a:r>
              <a:rPr lang="es-ES" b="1" dirty="0"/>
              <a:t>1 de cada 4 clientes</a:t>
            </a:r>
            <a:r>
              <a:rPr lang="es-ES" dirty="0"/>
              <a:t> abandona cada año (26,5%)</a:t>
            </a:r>
          </a:p>
          <a:p>
            <a:pPr lvl="0"/>
            <a:r>
              <a:rPr lang="es-ES" dirty="0"/>
              <a:t>Retener un cliente cuesta </a:t>
            </a:r>
            <a:r>
              <a:rPr lang="es-ES" b="1" dirty="0"/>
              <a:t>5-7x menos</a:t>
            </a:r>
            <a:r>
              <a:rPr lang="es-ES" dirty="0"/>
              <a:t> que captar uno nuevo</a:t>
            </a:r>
          </a:p>
          <a:p>
            <a:pPr lvl="0"/>
            <a:r>
              <a:rPr lang="es-ES" dirty="0"/>
              <a:t>Cada cliente perdido = </a:t>
            </a:r>
            <a:r>
              <a:rPr lang="es-ES" b="1" dirty="0"/>
              <a:t>~900€/año</a:t>
            </a:r>
            <a:r>
              <a:rPr lang="es-ES" dirty="0"/>
              <a:t> de ingresos</a:t>
            </a:r>
          </a:p>
          <a:p>
            <a:pPr lvl="0"/>
            <a:r>
              <a:rPr lang="es-ES" b="1" dirty="0"/>
              <a:t>Oportunidad:</a:t>
            </a:r>
            <a:r>
              <a:rPr lang="es-ES" dirty="0"/>
              <a:t> anticipar y actuar antes de perderlos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D17AB8-F8E0-C885-F052-E5E399870D2A}"/>
              </a:ext>
            </a:extLst>
          </p:cNvPr>
          <p:cNvSpPr txBox="1"/>
          <p:nvPr/>
        </p:nvSpPr>
        <p:spPr>
          <a:xfrm>
            <a:off x="1100889" y="818147"/>
            <a:ext cx="327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¿Por qué es importante el churn?</a:t>
            </a:r>
            <a:endParaRPr lang="es-ES" dirty="0"/>
          </a:p>
        </p:txBody>
      </p:sp>
      <p:pic>
        <p:nvPicPr>
          <p:cNvPr id="12" name="ElevenLabs_2026-09-14T13_55_42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E3FEEC0E-1673-4022-AB1F-3236AD98A0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44530" y="54455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8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¿Qué buscamos?</a:t>
            </a:r>
          </a:p>
        </p:txBody>
      </p:sp>
      <p:pic>
        <p:nvPicPr>
          <p:cNvPr id="11" name="Marcador de contenido 4" descr="Gráfico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C23854-3C60-229A-FF69-9C7889874A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b="1" dirty="0"/>
              <a:t>3 objetivos:</a:t>
            </a:r>
            <a:endParaRPr lang="es-ES" dirty="0"/>
          </a:p>
          <a:p>
            <a:pPr lvl="0"/>
            <a:r>
              <a:rPr lang="es-ES" b="1" dirty="0"/>
              <a:t>Predecir</a:t>
            </a:r>
            <a:r>
              <a:rPr lang="es-ES" dirty="0"/>
              <a:t> qué clientes van a abandonar</a:t>
            </a:r>
          </a:p>
          <a:p>
            <a:pPr lvl="0"/>
            <a:r>
              <a:rPr lang="es-ES" b="1" dirty="0"/>
              <a:t>Identificar</a:t>
            </a:r>
            <a:r>
              <a:rPr lang="es-ES" dirty="0"/>
              <a:t> los factores más influyentes</a:t>
            </a:r>
          </a:p>
          <a:p>
            <a:pPr lvl="0"/>
            <a:r>
              <a:rPr lang="es-ES" b="1" dirty="0"/>
              <a:t>Recomendar</a:t>
            </a:r>
            <a:r>
              <a:rPr lang="es-ES" dirty="0"/>
              <a:t> acciones concretas con impacto medible</a:t>
            </a:r>
          </a:p>
          <a:p>
            <a:r>
              <a:rPr lang="es-ES" b="1" dirty="0"/>
              <a:t>Métrica de éxito:</a:t>
            </a:r>
            <a:r>
              <a:rPr lang="es-ES" dirty="0"/>
              <a:t> AUC-ROC &gt; 0.80</a:t>
            </a:r>
          </a:p>
          <a:p>
            <a:endParaRPr lang="es-ES" dirty="0"/>
          </a:p>
        </p:txBody>
      </p:sp>
      <p:pic>
        <p:nvPicPr>
          <p:cNvPr id="5" name="ElevenLabs_2026-09-14T13_58_31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E5B03E52-431E-62B1-A007-91CCB45B85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80625" y="56469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4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es-ES" dirty="0"/>
              <a:t>Los datos</a:t>
            </a:r>
          </a:p>
        </p:txBody>
      </p:sp>
      <p:graphicFrame>
        <p:nvGraphicFramePr>
          <p:cNvPr id="6" name="Marcador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610982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3" name="ElevenLabs_2026-09-14T14_00_48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CAD3CACF-185B-E456-21ED-2EB8C2479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441573" y="539833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8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4CEFDE6-D873-EE1B-5A87-89D00FE132DE}"/>
              </a:ext>
            </a:extLst>
          </p:cNvPr>
          <p:cNvSpPr txBox="1"/>
          <p:nvPr/>
        </p:nvSpPr>
        <p:spPr>
          <a:xfrm>
            <a:off x="446533" y="720342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0" i="0" dirty="0">
                <a:solidFill>
                  <a:schemeClr val="bg1"/>
                </a:solidFill>
                <a:effectLst/>
                <a:latin typeface="+mn-lt"/>
              </a:rPr>
              <a:t>Nuestro enfoque</a:t>
            </a:r>
            <a:endParaRPr lang="es-ES" sz="36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38BA630-3664-BE6F-E32D-FAC288CFD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83662"/>
              </p:ext>
            </p:extLst>
          </p:nvPr>
        </p:nvGraphicFramePr>
        <p:xfrm>
          <a:off x="996528" y="2245713"/>
          <a:ext cx="5730240" cy="184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137859459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673247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Modelo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Tipo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987379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Regresión Logística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Baseline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163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Random Forest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Ensemble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854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Gradient Boosting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Ensemble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34286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Red Neuronal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Deep </a:t>
                      </a:r>
                      <a:r>
                        <a:rPr lang="es-ES" sz="1125" dirty="0" err="1">
                          <a:effectLst/>
                        </a:rPr>
                        <a:t>Learning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77864433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9CA8A1AE-ED3E-0AEE-EE30-90DA48DA914C}"/>
              </a:ext>
            </a:extLst>
          </p:cNvPr>
          <p:cNvSpPr txBox="1"/>
          <p:nvPr/>
        </p:nvSpPr>
        <p:spPr>
          <a:xfrm>
            <a:off x="1076300" y="187460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bg1"/>
                </a:solidFill>
                <a:effectLst/>
                <a:latin typeface="+mn-lt"/>
              </a:rPr>
              <a:t>4 modelos de IA:</a:t>
            </a:r>
            <a:endParaRPr lang="es-ES" sz="1800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DE1F3D-0CEE-F566-643D-1731D4ED1001}"/>
              </a:ext>
            </a:extLst>
          </p:cNvPr>
          <p:cNvSpPr txBox="1"/>
          <p:nvPr/>
        </p:nvSpPr>
        <p:spPr>
          <a:xfrm>
            <a:off x="996528" y="4542599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dirty="0">
                <a:solidFill>
                  <a:schemeClr val="bg1"/>
                </a:solidFill>
                <a:effectLst/>
                <a:latin typeface="+mn-lt"/>
              </a:rPr>
              <a:t>Métricas:</a:t>
            </a:r>
            <a:r>
              <a:rPr lang="es-ES" sz="18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s-ES" sz="1800" b="0" i="0" dirty="0" err="1">
                <a:solidFill>
                  <a:schemeClr val="bg1"/>
                </a:solidFill>
                <a:effectLst/>
                <a:latin typeface="+mn-lt"/>
              </a:rPr>
              <a:t>Accuracy</a:t>
            </a:r>
            <a:r>
              <a:rPr lang="es-ES" sz="1800" b="0" i="0" dirty="0">
                <a:solidFill>
                  <a:schemeClr val="bg1"/>
                </a:solidFill>
                <a:effectLst/>
                <a:latin typeface="+mn-lt"/>
              </a:rPr>
              <a:t> · </a:t>
            </a:r>
            <a:r>
              <a:rPr lang="es-ES" sz="1800" b="0" i="0" dirty="0" err="1">
                <a:solidFill>
                  <a:schemeClr val="bg1"/>
                </a:solidFill>
                <a:effectLst/>
                <a:latin typeface="+mn-lt"/>
              </a:rPr>
              <a:t>Precision</a:t>
            </a:r>
            <a:r>
              <a:rPr lang="es-ES" sz="1800" b="0" i="0" dirty="0">
                <a:solidFill>
                  <a:schemeClr val="bg1"/>
                </a:solidFill>
                <a:effectLst/>
                <a:latin typeface="+mn-lt"/>
              </a:rPr>
              <a:t> · </a:t>
            </a:r>
            <a:r>
              <a:rPr lang="es-ES" sz="1800" b="0" i="0" dirty="0" err="1">
                <a:solidFill>
                  <a:schemeClr val="bg1"/>
                </a:solidFill>
                <a:effectLst/>
                <a:latin typeface="+mn-lt"/>
              </a:rPr>
              <a:t>Recall</a:t>
            </a:r>
            <a:r>
              <a:rPr lang="es-ES" sz="1800" b="0" i="0" dirty="0">
                <a:solidFill>
                  <a:schemeClr val="bg1"/>
                </a:solidFill>
                <a:effectLst/>
                <a:latin typeface="+mn-lt"/>
              </a:rPr>
              <a:t> · F1 · AUC-ROC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20" name="ElevenLabs_2026-09-14T14_04_31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F5440A0B-3A9E-5736-31DF-1336EA6A3A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824893" y="136667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04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04021-4841-53D0-B9B1-C14F72DA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contrato lo cambia todo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B33EA26-BAE8-0BE0-8504-47C28169C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782010"/>
              </p:ext>
            </p:extLst>
          </p:nvPr>
        </p:nvGraphicFramePr>
        <p:xfrm>
          <a:off x="683460" y="2725679"/>
          <a:ext cx="5730240" cy="1472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140293606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058949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Tipo de contrato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Churn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80422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Month-to-month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42,7% ⚠️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9572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One </a:t>
                      </a:r>
                      <a:r>
                        <a:rPr lang="es-ES" sz="1125" dirty="0" err="1">
                          <a:effectLst/>
                        </a:rPr>
                        <a:t>year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11,3%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6880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Two </a:t>
                      </a:r>
                      <a:r>
                        <a:rPr lang="es-ES" sz="1125" dirty="0" err="1">
                          <a:effectLst/>
                        </a:rPr>
                        <a:t>year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2,8%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7086189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7400E8C-AA4A-2471-B8E9-70C3BA7AC11F}"/>
              </a:ext>
            </a:extLst>
          </p:cNvPr>
          <p:cNvSpPr txBox="1"/>
          <p:nvPr/>
        </p:nvSpPr>
        <p:spPr>
          <a:xfrm>
            <a:off x="581192" y="2290550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chemeClr val="tx1"/>
                </a:solidFill>
                <a:effectLst/>
                <a:latin typeface="+mn-lt"/>
              </a:rPr>
              <a:t>Datos:</a:t>
            </a:r>
            <a:endParaRPr lang="es-ES" sz="1800" b="0" i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685547-3ECC-8E03-B5DC-5B0D55499FB2}"/>
              </a:ext>
            </a:extLst>
          </p:cNvPr>
          <p:cNvSpPr txBox="1"/>
          <p:nvPr/>
        </p:nvSpPr>
        <p:spPr>
          <a:xfrm>
            <a:off x="5190122" y="6340506"/>
            <a:ext cx="60970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los contratos mensuales tienen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15x más </a:t>
            </a: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churn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6D7C7CC-B7C6-95EF-0035-4E79276DC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795" y="2117557"/>
            <a:ext cx="7257047" cy="3982454"/>
          </a:xfrm>
          <a:prstGeom prst="rect">
            <a:avLst/>
          </a:prstGeom>
        </p:spPr>
      </p:pic>
      <p:pic>
        <p:nvPicPr>
          <p:cNvPr id="11" name="ElevenLabs_2026-09-14T14_08_07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2D8B1CA3-2CD0-6409-410E-40B3039787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4277" y="544646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6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8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6B244-146E-EF9A-B2EA-4CC2469A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primeros meses son clave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73298F6-ACC1-1081-B2BB-4055D0676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486922"/>
              </p:ext>
            </p:extLst>
          </p:nvPr>
        </p:nvGraphicFramePr>
        <p:xfrm>
          <a:off x="451585" y="2438336"/>
          <a:ext cx="5730240" cy="1104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1720527052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908705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Segmento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Tenure medio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47923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No churn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37,6 meses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8236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Churn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18,0 meses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0167682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94C2376-445D-96F0-E8DC-89C343C46B98}"/>
              </a:ext>
            </a:extLst>
          </p:cNvPr>
          <p:cNvSpPr txBox="1"/>
          <p:nvPr/>
        </p:nvSpPr>
        <p:spPr>
          <a:xfrm>
            <a:off x="377491" y="1968986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chemeClr val="tx1"/>
                </a:solidFill>
                <a:effectLst/>
                <a:latin typeface="+mn-lt"/>
              </a:rPr>
              <a:t>Datos:</a:t>
            </a:r>
            <a:endParaRPr lang="es-ES" sz="1800" b="0" i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E904CE-B45D-A69A-F566-A47D8EFDA82C}"/>
              </a:ext>
            </a:extLst>
          </p:cNvPr>
          <p:cNvSpPr txBox="1"/>
          <p:nvPr/>
        </p:nvSpPr>
        <p:spPr>
          <a:xfrm>
            <a:off x="4872789" y="6310563"/>
            <a:ext cx="6187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Insight</a:t>
            </a:r>
            <a:r>
              <a:rPr lang="es-ES" b="1" dirty="0"/>
              <a:t>:</a:t>
            </a:r>
            <a:r>
              <a:rPr lang="es-ES" dirty="0"/>
              <a:t> el </a:t>
            </a:r>
            <a:r>
              <a:rPr lang="es-ES" b="1" dirty="0"/>
              <a:t>riesgo se concentra en los primeros 18 meses</a:t>
            </a:r>
            <a:r>
              <a:rPr lang="es-ES" dirty="0"/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D9B6D0-8DFA-D01C-5899-63CC0D234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558" y="3638168"/>
            <a:ext cx="9318458" cy="2576892"/>
          </a:xfrm>
          <a:prstGeom prst="rect">
            <a:avLst/>
          </a:prstGeom>
        </p:spPr>
      </p:pic>
      <p:pic>
        <p:nvPicPr>
          <p:cNvPr id="10" name="ttsmaker-file-2026-9-14-16-13-48">
            <a:hlinkClick r:id="" action="ppaction://media"/>
            <a:extLst>
              <a:ext uri="{FF2B5EF4-FFF2-40B4-BE49-F238E27FC236}">
                <a16:creationId xmlns:a16="http://schemas.microsoft.com/office/drawing/2014/main" id="{B7AFFC60-BD66-F813-6DC8-BB2BB2CEE6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5984" y="59713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6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93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C233-4DF5-16DC-C9B8-CD1DB8E8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fibra óptica preocupa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645F138-FA35-F1AD-77C2-67203E1DB5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443405"/>
              </p:ext>
            </p:extLst>
          </p:nvPr>
        </p:nvGraphicFramePr>
        <p:xfrm>
          <a:off x="433537" y="2500546"/>
          <a:ext cx="9221806" cy="3334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0903">
                  <a:extLst>
                    <a:ext uri="{9D8B030D-6E8A-4147-A177-3AD203B41FA5}">
                      <a16:colId xmlns:a16="http://schemas.microsoft.com/office/drawing/2014/main" val="3138095834"/>
                    </a:ext>
                  </a:extLst>
                </a:gridCol>
                <a:gridCol w="4610903">
                  <a:extLst>
                    <a:ext uri="{9D8B030D-6E8A-4147-A177-3AD203B41FA5}">
                      <a16:colId xmlns:a16="http://schemas.microsoft.com/office/drawing/2014/main" val="353860423"/>
                    </a:ext>
                  </a:extLst>
                </a:gridCol>
              </a:tblGrid>
              <a:tr h="8336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InternetService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Churn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42643593"/>
                  </a:ext>
                </a:extLst>
              </a:tr>
              <a:tr h="8336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Fiber optic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41,9% ⚠️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35030753"/>
                  </a:ext>
                </a:extLst>
              </a:tr>
              <a:tr h="8336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DSL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19,0%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845569"/>
                  </a:ext>
                </a:extLst>
              </a:tr>
              <a:tr h="8336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No internet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7,4%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7927515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F7BAE8B-A558-0B52-3158-5923958B4225}"/>
              </a:ext>
            </a:extLst>
          </p:cNvPr>
          <p:cNvSpPr txBox="1"/>
          <p:nvPr/>
        </p:nvSpPr>
        <p:spPr>
          <a:xfrm>
            <a:off x="365459" y="1945280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chemeClr val="tx1"/>
                </a:solidFill>
                <a:effectLst/>
                <a:latin typeface="+mn-lt"/>
              </a:rPr>
              <a:t>Datos:</a:t>
            </a:r>
            <a:endParaRPr lang="es-ES" sz="1800" b="0" i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7FF826-0ADA-6E1A-B4EA-30A2B3D2FBC0}"/>
              </a:ext>
            </a:extLst>
          </p:cNvPr>
          <p:cNvSpPr txBox="1"/>
          <p:nvPr/>
        </p:nvSpPr>
        <p:spPr>
          <a:xfrm>
            <a:off x="3159441" y="6208294"/>
            <a:ext cx="660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Insight</a:t>
            </a:r>
            <a:r>
              <a:rPr lang="es-ES" b="1" dirty="0"/>
              <a:t>:</a:t>
            </a:r>
            <a:r>
              <a:rPr lang="es-ES" dirty="0"/>
              <a:t> los clientes de fibra </a:t>
            </a:r>
            <a:r>
              <a:rPr lang="es-ES" b="1" dirty="0"/>
              <a:t>pagan más</a:t>
            </a:r>
            <a:r>
              <a:rPr lang="es-ES" dirty="0"/>
              <a:t> (74€ vs 61€) y se van más.</a:t>
            </a:r>
          </a:p>
        </p:txBody>
      </p:sp>
      <p:pic>
        <p:nvPicPr>
          <p:cNvPr id="8" name="ttsmaker-file-2026-9-14-16-17-27">
            <a:hlinkClick r:id="" action="ppaction://media"/>
            <a:extLst>
              <a:ext uri="{FF2B5EF4-FFF2-40B4-BE49-F238E27FC236}">
                <a16:creationId xmlns:a16="http://schemas.microsoft.com/office/drawing/2014/main" id="{CFD768F3-3B73-7F4E-70C3-8EB9DDD2A3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06267" y="572093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3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FC800-81F8-62F7-E603-B614212C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Random Forest gana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44EB726-383C-6090-E5D8-9E74A3344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8597493"/>
              </p:ext>
            </p:extLst>
          </p:nvPr>
        </p:nvGraphicFramePr>
        <p:xfrm>
          <a:off x="581192" y="2508725"/>
          <a:ext cx="5730240" cy="184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3332966653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4256360665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279125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Modelo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AUC-ROC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F1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83640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Random Forest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0.8445 ⭐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0.6350 ⭐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49173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Gradient Boosting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0.8435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0.6213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2638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Regresión Logística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0.8418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0.6157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0539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Red Neuronal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0.8310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0.6187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3591895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C2884CA-3E01-39B6-C7FA-10EE9C218E41}"/>
              </a:ext>
            </a:extLst>
          </p:cNvPr>
          <p:cNvSpPr txBox="1"/>
          <p:nvPr/>
        </p:nvSpPr>
        <p:spPr>
          <a:xfrm>
            <a:off x="491790" y="1968986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chemeClr val="tx1"/>
                </a:solidFill>
                <a:effectLst/>
                <a:latin typeface="+mn-lt"/>
              </a:rPr>
              <a:t>Tabla:</a:t>
            </a:r>
            <a:endParaRPr lang="es-ES" sz="1800" b="0" i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5AF3BC-B486-B0F8-8824-096003F16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673" y="2338317"/>
            <a:ext cx="6936206" cy="3816851"/>
          </a:xfrm>
          <a:prstGeom prst="rect">
            <a:avLst/>
          </a:prstGeom>
        </p:spPr>
      </p:pic>
      <p:pic>
        <p:nvPicPr>
          <p:cNvPr id="9" name="ttsmaker-file-2026-9-14-16-21-20">
            <a:hlinkClick r:id="" action="ppaction://media"/>
            <a:extLst>
              <a:ext uri="{FF2B5EF4-FFF2-40B4-BE49-F238E27FC236}">
                <a16:creationId xmlns:a16="http://schemas.microsoft.com/office/drawing/2014/main" id="{46B3956A-B407-09C4-E9F6-ACDE7EB4D3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97193" y="577131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8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8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0F9C2-4EBF-4C58-9E1F-C5042F97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de acción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07F6AA7-3F46-5A06-FC5B-65F58B05C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927106"/>
              </p:ext>
            </p:extLst>
          </p:nvPr>
        </p:nvGraphicFramePr>
        <p:xfrm>
          <a:off x="581192" y="2508724"/>
          <a:ext cx="9717840" cy="3994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9280">
                  <a:extLst>
                    <a:ext uri="{9D8B030D-6E8A-4147-A177-3AD203B41FA5}">
                      <a16:colId xmlns:a16="http://schemas.microsoft.com/office/drawing/2014/main" val="4029580737"/>
                    </a:ext>
                  </a:extLst>
                </a:gridCol>
                <a:gridCol w="3239280">
                  <a:extLst>
                    <a:ext uri="{9D8B030D-6E8A-4147-A177-3AD203B41FA5}">
                      <a16:colId xmlns:a16="http://schemas.microsoft.com/office/drawing/2014/main" val="1268718397"/>
                    </a:ext>
                  </a:extLst>
                </a:gridCol>
                <a:gridCol w="3239280">
                  <a:extLst>
                    <a:ext uri="{9D8B030D-6E8A-4147-A177-3AD203B41FA5}">
                      <a16:colId xmlns:a16="http://schemas.microsoft.com/office/drawing/2014/main" val="1894783732"/>
                    </a:ext>
                  </a:extLst>
                </a:gridCol>
              </a:tblGrid>
              <a:tr h="7988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Acción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Clientes/año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Impacto €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61223011"/>
                  </a:ext>
                </a:extLst>
              </a:tr>
              <a:tr h="7988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Contratos largos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150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135.000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45303687"/>
                  </a:ext>
                </a:extLst>
              </a:tr>
              <a:tr h="7988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Retención temprana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100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90.000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64055555"/>
                  </a:ext>
                </a:extLst>
              </a:tr>
              <a:tr h="7988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Mejora fibra óptica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200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180.000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68865987"/>
                  </a:ext>
                </a:extLst>
              </a:tr>
              <a:tr h="7988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Segmentación por valor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120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130.000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88071026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3C97B2A-48DC-4107-261D-5ED67AF06A3C}"/>
              </a:ext>
            </a:extLst>
          </p:cNvPr>
          <p:cNvSpPr txBox="1"/>
          <p:nvPr/>
        </p:nvSpPr>
        <p:spPr>
          <a:xfrm>
            <a:off x="704248" y="1984770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5 acciones con impacto:</a:t>
            </a:r>
            <a:endParaRPr lang="es-ES" dirty="0"/>
          </a:p>
        </p:txBody>
      </p:sp>
      <p:pic>
        <p:nvPicPr>
          <p:cNvPr id="6" name="ttsmaker-file-2026-9-14-16-23-50">
            <a:hlinkClick r:id="" action="ppaction://media"/>
            <a:extLst>
              <a:ext uri="{FF2B5EF4-FFF2-40B4-BE49-F238E27FC236}">
                <a16:creationId xmlns:a16="http://schemas.microsoft.com/office/drawing/2014/main" id="{5A65C53F-3A8F-AD13-3E4F-2059B94383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83682" y="565043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6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46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55887-FE60-BB27-7A29-CC83C17A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 Impacto económico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BB078E9-0531-367B-043B-CAE8027726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260510"/>
              </p:ext>
            </p:extLst>
          </p:nvPr>
        </p:nvGraphicFramePr>
        <p:xfrm>
          <a:off x="581191" y="2508725"/>
          <a:ext cx="9224546" cy="2905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2273">
                  <a:extLst>
                    <a:ext uri="{9D8B030D-6E8A-4147-A177-3AD203B41FA5}">
                      <a16:colId xmlns:a16="http://schemas.microsoft.com/office/drawing/2014/main" val="1265403020"/>
                    </a:ext>
                  </a:extLst>
                </a:gridCol>
                <a:gridCol w="4612273">
                  <a:extLst>
                    <a:ext uri="{9D8B030D-6E8A-4147-A177-3AD203B41FA5}">
                      <a16:colId xmlns:a16="http://schemas.microsoft.com/office/drawing/2014/main" val="1758416046"/>
                    </a:ext>
                  </a:extLst>
                </a:gridCol>
              </a:tblGrid>
              <a:tr h="58109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Concepto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Valor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262245333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Clientes retenidos/año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570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75632948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Retorno anual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535.000 €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97469374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Inversión estimada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80.000 €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56455720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ROI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6,7x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718538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420AE78-1DF1-763C-93C4-5A455BD23807}"/>
              </a:ext>
            </a:extLst>
          </p:cNvPr>
          <p:cNvSpPr txBox="1"/>
          <p:nvPr/>
        </p:nvSpPr>
        <p:spPr>
          <a:xfrm>
            <a:off x="521870" y="203772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chemeClr val="tx1"/>
                </a:solidFill>
                <a:effectLst/>
                <a:latin typeface="+mn-lt"/>
              </a:rPr>
              <a:t>KPIs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9FD099-AC1C-27CA-E82C-1B2179405564}"/>
              </a:ext>
            </a:extLst>
          </p:cNvPr>
          <p:cNvSpPr txBox="1"/>
          <p:nvPr/>
        </p:nvSpPr>
        <p:spPr>
          <a:xfrm>
            <a:off x="505642" y="5654843"/>
            <a:ext cx="4687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"El </a:t>
            </a:r>
            <a:r>
              <a:rPr lang="es-ES" dirty="0" err="1"/>
              <a:t>churn</a:t>
            </a:r>
            <a:r>
              <a:rPr lang="es-ES" dirty="0"/>
              <a:t> es prevenible con acciones concretas."</a:t>
            </a:r>
          </a:p>
        </p:txBody>
      </p:sp>
      <p:pic>
        <p:nvPicPr>
          <p:cNvPr id="8" name="ttsmaker-file-2026-9-14-16-26-25">
            <a:hlinkClick r:id="" action="ppaction://media"/>
            <a:extLst>
              <a:ext uri="{FF2B5EF4-FFF2-40B4-BE49-F238E27FC236}">
                <a16:creationId xmlns:a16="http://schemas.microsoft.com/office/drawing/2014/main" id="{4F9BF595-D751-6538-E520-C54ED5AA21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31805" y="541421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7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99AF7-7B64-CD43-FEF8-D69F52FD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futuro de </a:t>
            </a:r>
            <a:r>
              <a:rPr lang="es-ES" dirty="0" err="1"/>
              <a:t>Dataclysm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EF0CA8-0532-92B1-829A-E69914D8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23362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IA nos permite anticipar el </a:t>
            </a:r>
            <a:r>
              <a:rPr lang="es-ES" dirty="0" err="1"/>
              <a:t>churn</a:t>
            </a:r>
            <a:r>
              <a:rPr lang="es-ES" dirty="0"/>
              <a:t> y actuar antes de perder clientes.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b="1" dirty="0"/>
              <a:t>Próximos pasos:</a:t>
            </a:r>
            <a:endParaRPr lang="es-ES" dirty="0"/>
          </a:p>
          <a:p>
            <a:pPr lvl="0"/>
            <a:r>
              <a:rPr lang="es-ES" dirty="0"/>
              <a:t>Desplegar el modelo en el CRM</a:t>
            </a:r>
          </a:p>
          <a:p>
            <a:pPr lvl="0"/>
            <a:r>
              <a:rPr lang="es-ES" dirty="0"/>
              <a:t>Lanzar campañas segmentadas</a:t>
            </a:r>
          </a:p>
          <a:p>
            <a:pPr lvl="0"/>
            <a:r>
              <a:rPr lang="es-ES" dirty="0"/>
              <a:t>Monitorizar </a:t>
            </a:r>
            <a:r>
              <a:rPr lang="es-ES" dirty="0" err="1"/>
              <a:t>KPIs</a:t>
            </a:r>
            <a:r>
              <a:rPr lang="es-ES" dirty="0"/>
              <a:t> mensualmente</a:t>
            </a:r>
          </a:p>
          <a:p>
            <a:r>
              <a:rPr lang="es-ES" b="1" dirty="0"/>
              <a:t>Contacto:</a:t>
            </a:r>
            <a:r>
              <a:rPr lang="es-ES" dirty="0"/>
              <a:t> [jdthgp27@gmail.com / LinkedIn: </a:t>
            </a:r>
            <a:r>
              <a:rPr lang="es-ES" b="1" u="sng" dirty="0">
                <a:hlinkClick r:id="rId4"/>
              </a:rPr>
              <a:t>linkedin.com/in/judit-giravent-27b167156</a:t>
            </a:r>
            <a:r>
              <a:rPr lang="es-ES" dirty="0"/>
              <a:t>]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ttsmaker-file-2026-9-14-16-30-9">
            <a:hlinkClick r:id="" action="ppaction://media"/>
            <a:extLst>
              <a:ext uri="{FF2B5EF4-FFF2-40B4-BE49-F238E27FC236}">
                <a16:creationId xmlns:a16="http://schemas.microsoft.com/office/drawing/2014/main" id="{A4B0C5B6-21D4-D8A7-6B98-CB44DB2528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12972" y="541638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{C1F8211E-3894-424A-A00C-B74081275F47}TF9cd6fad6-da1d-416b-8dc8-a086cd1045b10fc9cf83_win32-66f3597afc39</Template>
  <TotalTime>43</TotalTime>
  <Words>410</Words>
  <Application>Microsoft Office PowerPoint</Application>
  <PresentationFormat>Panorámica</PresentationFormat>
  <Paragraphs>131</Paragraphs>
  <Slides>12</Slides>
  <Notes>5</Notes>
  <HiddenSlides>0</HiddenSlides>
  <MMClips>12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quote-cjk-patch</vt:lpstr>
      <vt:lpstr>Wingdings 2</vt:lpstr>
      <vt:lpstr>Personalizado</vt:lpstr>
      <vt:lpstr>Predicción de Churn con IA</vt:lpstr>
      <vt:lpstr>Presentación de PowerPoint</vt:lpstr>
      <vt:lpstr>¿Qué buscamos?</vt:lpstr>
      <vt:lpstr>Los datos</vt:lpstr>
      <vt:lpstr>Presentación de PowerPoint</vt:lpstr>
      <vt:lpstr>El contrato lo cambia todo</vt:lpstr>
      <vt:lpstr>Los primeros meses son clave</vt:lpstr>
      <vt:lpstr>La fibra óptica preocupa</vt:lpstr>
      <vt:lpstr>Random Forest gana</vt:lpstr>
      <vt:lpstr>Plan de acción</vt:lpstr>
      <vt:lpstr> Impacto económico</vt:lpstr>
      <vt:lpstr>El futuro de Dataclysm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7</cp:revision>
  <dcterms:created xsi:type="dcterms:W3CDTF">2026-09-14T13:47:57Z</dcterms:created>
  <dcterms:modified xsi:type="dcterms:W3CDTF">2026-09-14T14:31:56Z</dcterms:modified>
</cp:coreProperties>
</file>